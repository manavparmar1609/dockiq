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72033"/>
                </a:solidFill>
                <a:latin typeface="Aptos Display"/>
              </a:rPr>
              <a:t>DockIQ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81912" y="274320"/>
            <a:ext cx="1508760" cy="27432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7632" y="288036"/>
            <a:ext cx="1417319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69E0"/>
                </a:solidFill>
                <a:latin typeface="Aptos Display"/>
              </a:rPr>
              <a:t>OPERATIONAL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F6B7A"/>
                </a:solidFill>
                <a:latin typeface="Aptos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ptos Display"/>
              </a:rPr>
              <a:t>From temperature exception to controlled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  <a:latin typeface="Aptos"/>
              </a:rPr>
              <a:t>One demonstrated loop: guided detection, grounded SOP guidance, and prioritized supervision.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11183112" cy="1270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93392"/>
            <a:ext cx="6537960" cy="41605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221992"/>
            <a:ext cx="1874519" cy="27432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0160">
            <a:solidFill>
              <a:srgbClr val="F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235708"/>
            <a:ext cx="1783079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53A35"/>
                </a:solidFill>
                <a:latin typeface="Aptos Display"/>
              </a:rPr>
              <a:t>TEMPERATURE DEVIATION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51760"/>
            <a:ext cx="53949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72033"/>
                </a:solidFill>
                <a:latin typeface="Aptos Display"/>
              </a:rPr>
              <a:t>28 F observed  /  0 F maximum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54096"/>
            <a:ext cx="5303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Aptos"/>
              </a:rPr>
              <a:t>Worker-entered reading for a temperature-controlled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5478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0160">
            <a:solidFill>
              <a:srgbClr val="F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566160"/>
            <a:ext cx="38404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C53A35"/>
                </a:solidFill>
                <a:latin typeface="Aptos Display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38728"/>
            <a:ext cx="9144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 Display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3538728"/>
            <a:ext cx="4434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Aptos"/>
              </a:rPr>
              <a:t>Threshold comparison flags a critical exception.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41063"/>
            <a:ext cx="18288" cy="15240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4133087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51375"/>
            <a:ext cx="38404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96800"/>
                </a:solidFill>
                <a:latin typeface="Aptos Display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23944"/>
            <a:ext cx="9144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 Display"/>
              </a:rPr>
              <a:t>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123944"/>
            <a:ext cx="4434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Aptos"/>
              </a:rPr>
              <a:t>Do not unload; close trailer doors; preserve context.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4526279"/>
            <a:ext cx="18288" cy="15240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4718303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736591"/>
            <a:ext cx="38404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69E0"/>
                </a:solidFill>
                <a:latin typeface="Aptos Display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709159"/>
            <a:ext cx="9144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 Display"/>
              </a:rPr>
              <a:t>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6272" y="4709159"/>
            <a:ext cx="4434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Aptos"/>
              </a:rPr>
              <a:t>Cold Chain SOP 2.3 is cited with resolution steps.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5111495"/>
            <a:ext cx="18288" cy="15240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5303519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 w="10160"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321807"/>
            <a:ext cx="384048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37A4B"/>
                </a:solidFill>
                <a:latin typeface="Aptos Display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94375"/>
            <a:ext cx="9144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 Display"/>
              </a:rPr>
              <a:t>Escalate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76272" y="5294375"/>
            <a:ext cx="4434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Aptos"/>
              </a:rPr>
              <a:t>The unresolved issue enters the supervisor priority queue.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1993392"/>
            <a:ext cx="438912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16368" y="221284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0160">
            <a:solidFill>
              <a:srgbClr val="FD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2157984"/>
            <a:ext cx="3246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C53A35"/>
                </a:solidFill>
                <a:latin typeface="Aptos Display"/>
              </a:rPr>
              <a:t>GUIDED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386584"/>
            <a:ext cx="32461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 Display"/>
              </a:rPr>
              <a:t>Context-aware severity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2688336"/>
            <a:ext cx="3246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Aptos"/>
              </a:rPr>
              <a:t>Product thresholds and issue context shape the alert.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6912" y="3291840"/>
            <a:ext cx="438912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16368" y="351129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3456432"/>
            <a:ext cx="3246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69E0"/>
                </a:solidFill>
                <a:latin typeface="Aptos Display"/>
              </a:rPr>
              <a:t>GROUNDED RESOLUTION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3685032"/>
            <a:ext cx="32461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 Display"/>
              </a:rPr>
              <a:t>Procedure before prose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986784"/>
            <a:ext cx="3246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Aptos"/>
              </a:rPr>
              <a:t>Knowledge-base steps include confidence and source.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96912" y="4590288"/>
            <a:ext cx="438912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16368" y="480974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0160">
            <a:solidFill>
              <a:srgbClr val="FF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5008" y="4754879"/>
            <a:ext cx="3246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B96800"/>
                </a:solidFill>
                <a:latin typeface="Aptos Display"/>
              </a:rPr>
              <a:t>PRIORITIZED SUPERVISION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4983479"/>
            <a:ext cx="32461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Aptos Display"/>
              </a:rPr>
              <a:t>Critical work surfaces first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5285231"/>
            <a:ext cx="324612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  <a:latin typeface="Aptos"/>
              </a:rPr>
              <a:t>Severity, age, dock, and impact organize the queue.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96912" y="5888736"/>
            <a:ext cx="4389120" cy="265176"/>
          </a:xfrm>
          <a:prstGeom prst="roundRect">
            <a:avLst>
              <a:gd name="adj" fmla="val 8000"/>
            </a:avLst>
          </a:prstGeom>
          <a:solidFill>
            <a:srgbClr val="E8F5ED"/>
          </a:solidFill>
          <a:ln w="10160"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52360" y="5916168"/>
            <a:ext cx="4078224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37A4B"/>
                </a:solidFill>
                <a:latin typeface="Aptos Display"/>
              </a:rPr>
              <a:t>LIVE OR FALLBACK AI  |  Core workflow remains available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6473952"/>
            <a:ext cx="1110996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5F6B7A"/>
                </a:solidFill>
                <a:latin typeface="Aptos"/>
              </a:rPr>
              <a:t>Controlled demo access. Synthetic records. No production metrics or sensor integration claimed.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72033"/>
                </a:solidFill>
                <a:latin typeface="Aptos Display"/>
              </a:rPr>
              <a:t>DockIQ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81912" y="274320"/>
            <a:ext cx="1508760" cy="27432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7632" y="288036"/>
            <a:ext cx="1417319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69E0"/>
                </a:solidFill>
                <a:latin typeface="Aptos Display"/>
              </a:rPr>
              <a:t>DEMONSTRATED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56032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F6B7A"/>
                </a:solidFill>
                <a:latin typeface="Aptos Display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ptos Display"/>
              </a:rPr>
              <a:t>One loop, two operating views, one auditable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097280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  <a:latin typeface="Aptos"/>
              </a:rPr>
              <a:t>Worker guidance and supervisor action share validated API state and deterministic demo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11183112" cy="1270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35661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69E0"/>
                </a:solidFill>
                <a:latin typeface="Aptos Display"/>
              </a:rPr>
              <a:t>WORKER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12848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wcase_worker.png"/>
          <p:cNvPicPr>
            <a:picLocks noChangeAspect="1"/>
          </p:cNvPicPr>
          <p:nvPr/>
        </p:nvPicPr>
        <p:blipFill>
          <a:blip r:embed="rId2"/>
          <a:srcRect t="11667" r="71788" b="14861"/>
          <a:stretch>
            <a:fillRect/>
          </a:stretch>
        </p:blipFill>
        <p:spPr>
          <a:xfrm>
            <a:off x="1698943" y="2286000"/>
            <a:ext cx="1174113" cy="1911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1938528"/>
            <a:ext cx="35661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96800"/>
                </a:solidFill>
                <a:latin typeface="Aptos Display"/>
              </a:rPr>
              <a:t>SUPERVISOR PRIORITY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12848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wcase_supervisor.png"/>
          <p:cNvPicPr>
            <a:picLocks noChangeAspect="1"/>
          </p:cNvPicPr>
          <p:nvPr/>
        </p:nvPicPr>
        <p:blipFill>
          <a:blip r:embed="rId3"/>
          <a:srcRect t="11667" r="71788" b="14861"/>
          <a:stretch>
            <a:fillRect/>
          </a:stretch>
        </p:blipFill>
        <p:spPr>
          <a:xfrm>
            <a:off x="5493703" y="2286000"/>
            <a:ext cx="1174113" cy="19110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2440" y="1938528"/>
            <a:ext cx="35661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37A4B"/>
                </a:solidFill>
                <a:latin typeface="Aptos Display"/>
              </a:rPr>
              <a:t>SYNTHETIC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12848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owcase_analytics.png"/>
          <p:cNvPicPr>
            <a:picLocks noChangeAspect="1"/>
          </p:cNvPicPr>
          <p:nvPr/>
        </p:nvPicPr>
        <p:blipFill>
          <a:blip r:embed="rId4"/>
          <a:srcRect t="11667" r="71788" b="14861"/>
          <a:stretch>
            <a:fillRect/>
          </a:stretch>
        </p:blipFill>
        <p:spPr>
          <a:xfrm>
            <a:off x="9288463" y="2286000"/>
            <a:ext cx="1174113" cy="191109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4526280"/>
            <a:ext cx="1645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69E0"/>
                </a:solidFill>
                <a:latin typeface="Aptos Display"/>
              </a:rPr>
              <a:t>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18888"/>
            <a:ext cx="240487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4956048"/>
            <a:ext cx="2112264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 Display"/>
              </a:rPr>
              <a:t>React + 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5193792"/>
            <a:ext cx="2148839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F6B7A"/>
                </a:solidFill>
                <a:latin typeface="Aptos"/>
              </a:rPr>
              <a:t>Worker and supervisor 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8104" y="4818888"/>
            <a:ext cx="240487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4956048"/>
            <a:ext cx="2112264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 Display"/>
              </a:rPr>
              <a:t>FastAPI + WebSocket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193792"/>
            <a:ext cx="2148839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F6B7A"/>
                </a:solidFill>
                <a:latin typeface="Aptos"/>
              </a:rPr>
              <a:t>Validated commands and events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33288" y="4818888"/>
            <a:ext cx="240487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9592" y="4956048"/>
            <a:ext cx="2112264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 Display"/>
              </a:rPr>
              <a:t>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3" y="5193792"/>
            <a:ext cx="2148839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F6B7A"/>
                </a:solidFill>
                <a:latin typeface="Aptos"/>
              </a:rPr>
              <a:t>Deterministic demo 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8471" y="4818888"/>
            <a:ext cx="290779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4956048"/>
            <a:ext cx="2615184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72033"/>
                </a:solidFill>
                <a:latin typeface="Aptos Display"/>
              </a:rPr>
              <a:t>Live endpoint / local KB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5193792"/>
            <a:ext cx="26517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F6B7A"/>
                </a:solidFill>
                <a:latin typeface="Aptos"/>
              </a:rPr>
              <a:t>Optional AI, grounded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779008"/>
            <a:ext cx="1645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96800"/>
                </a:solidFill>
                <a:latin typeface="Aptos Display"/>
              </a:rPr>
              <a:t>8-MINUTE ROUTE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6199632"/>
            <a:ext cx="10442448" cy="2540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4088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0:00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Problem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39112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37943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0:45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0784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Demo access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74136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72968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1:30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35808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Worker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59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7992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2:30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1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Detect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44183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43016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3:30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05855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SOP guidance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79208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4:45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79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Escalate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14232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13064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5:45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Resolve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49256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1769E0"/>
          </a:solidFill>
          <a:ln w="10160">
            <a:solidFill>
              <a:srgbClr val="176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48088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6:45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10928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Analytics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84280" y="610819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237A4B"/>
          </a:solidFill>
          <a:ln w="10160">
            <a:solidFill>
              <a:srgbClr val="23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83112" y="6336792"/>
            <a:ext cx="59436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172033"/>
                </a:solidFill>
                <a:latin typeface="Aptos Display"/>
              </a:rPr>
              <a:t>8:00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45952" y="6510528"/>
            <a:ext cx="86868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F6B7A"/>
                </a:solidFill>
                <a:latin typeface="Aptos"/>
              </a:rPr>
              <a:t>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